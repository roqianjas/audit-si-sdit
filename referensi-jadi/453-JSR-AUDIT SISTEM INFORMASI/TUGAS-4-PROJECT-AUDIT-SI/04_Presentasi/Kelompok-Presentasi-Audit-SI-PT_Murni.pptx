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14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D1B2A"/>
                </a:solidFill>
                <a:latin typeface="Calibri"/>
              </a:defRPr>
            </a:pPr>
            <a:r>
              <a:t>LAPORAN PROJECT AUDIT SISTEM INFORMASI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D6"/>
                </a:solidFill>
                <a:latin typeface="Calibri"/>
              </a:defRPr>
            </a:pPr>
            <a:r>
              <a:t>MATA KULIAH AUDIT SISTEM INFORMASI (453)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554480"/>
            <a:ext cx="2286000" cy="36576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Evaluasi Tata Kelola Teknologi Informasi</a:t>
            </a:r>
            <a:br/>
            <a:r>
              <a:t>Menggunakan Framework COBIT 2019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918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BBBBBB"/>
                </a:solidFill>
                <a:latin typeface="Calibri"/>
              </a:defRPr>
            </a:pPr>
            <a:r>
              <a:t>Pada PT. Murni Solusindo Nusantara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389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D6"/>
                </a:solidFill>
                <a:latin typeface="Calibri"/>
              </a:defRPr>
            </a:pPr>
            <a:r>
              <a:t>Disusun Oleh: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754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Roki Anjas (11250066)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074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Susanto (1250068)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760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BB"/>
                </a:solidFill>
                <a:latin typeface="Calibri"/>
              </a:defRPr>
            </a:pPr>
            <a:r>
              <a:t>Dosen Pengampu: Juarni Siregar, S.Pd., M.Kom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6126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BB"/>
                </a:solidFill>
                <a:latin typeface="Calibri"/>
              </a:defRPr>
            </a:pPr>
            <a:r>
              <a:t>Program Studi Sistem Informasi (S1) | Universitas Nusa Mandiri | 2026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828800"/>
            <a:ext cx="3474720" cy="347472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246888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0">
                <a:solidFill>
                  <a:srgbClr val="0096D6"/>
                </a:solidFill>
                <a:latin typeface="Calibri"/>
              </a:defRPr>
            </a:pPr>
            <a:r>
              <a:t>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393192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PT. MURNI</a:t>
            </a:r>
            <a:br/>
            <a:r>
              <a:t>SOLUSINDO</a:t>
            </a:r>
            <a:br/>
            <a:r>
              <a:t>NUSANTARA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BBBBB"/>
                </a:solidFill>
                <a:latin typeface="Calibri"/>
              </a:defRPr>
            </a:pPr>
            <a:r>
              <a:t>1/17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AGENDA PRESENTASI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463040"/>
            <a:ext cx="2743200" cy="36576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011680"/>
            <a:ext cx="548640" cy="4572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D1B2A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0116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Pendahuluan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2860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t>Latar belakang, permasalahan, dan tujuan audit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651760"/>
            <a:ext cx="548640" cy="4572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6974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D1B2A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651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Profil Perusahaan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926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t>PT. Murni Solusindo Nusantara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3291840"/>
            <a:ext cx="548640" cy="4572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3375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D1B2A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2918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Framework COBIT 2019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35661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t>Penjelasan framework dan domain yang dipilih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931920"/>
            <a:ext cx="548640" cy="4572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977639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D1B2A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39319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Metodologi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206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t>RACI Matrix dan kuesioner penelitian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4572000"/>
            <a:ext cx="548640" cy="4572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6177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D1B2A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4572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Hasil Audit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48463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t>Capability level dan GAP analysis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" y="5212080"/>
            <a:ext cx="548640" cy="4572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2578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D1B2A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45920" y="5212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Rekomendasi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45920" y="54864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t>Perbaikan untuk meningkatkan capability level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" y="5852159"/>
            <a:ext cx="548640" cy="4572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897879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D1B2A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45920" y="5852159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Kesimpulan &amp; Saran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45920" y="6126479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t>Ringkasan temuan dan saran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BBBBB"/>
                </a:solidFill>
                <a:latin typeface="Calibri"/>
              </a:defRPr>
            </a:pPr>
            <a:r>
              <a:t>2/17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D6"/>
                </a:solidFill>
                <a:latin typeface="Calibri"/>
              </a:defRPr>
            </a:pPr>
            <a:r>
              <a:t>01 | PENDAHULUAN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772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Latar Belakang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325880"/>
            <a:ext cx="2743200" cy="36576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Calibri"/>
              </a:defRPr>
            </a:pPr>
            <a:r>
              <a:t>PT. Murni Solusindo Nusantara adalah perusahaan distributor alat hitung uang dan alat deteksi uang palsu yang juga memiliki produk digital: Platform Web Builder SaaS, Platform Listing Property, dan Platform Indoconnex. Dengan portofolio digital yang terus berkembang, diperlukan audit tata kelola TI untuk memastikan keamanan, efisiensi, dan efektivitas pengelolaan sistem informasi.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200400"/>
            <a:ext cx="10515600" cy="73152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32461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⚠️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32461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D6"/>
                </a:solidFill>
                <a:latin typeface="Calibri"/>
              </a:defRPr>
            </a:pPr>
            <a:r>
              <a:t>Risiko Keamanan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35661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t>Platform digital menyimpan data pelanggan yang sensitif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4069080"/>
            <a:ext cx="10515600" cy="73152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41148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41148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D6"/>
                </a:solidFill>
                <a:latin typeface="Calibri"/>
              </a:defRPr>
            </a:pPr>
            <a:r>
              <a:t>Manajemen Perubahan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44348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t>Perubahan sistem web development perlu tata kelola yang terstruktur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937760"/>
            <a:ext cx="10515600" cy="73152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49834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4983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D6"/>
                </a:solidFill>
                <a:latin typeface="Calibri"/>
              </a:defRPr>
            </a:pPr>
            <a:r>
              <a:t>Monitoring Operasional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5303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t>Operasional platform SaaS harus stabil dan termonitor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5806440"/>
            <a:ext cx="10515600" cy="73152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5852159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🛡️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585215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D6"/>
                </a:solidFill>
                <a:latin typeface="Calibri"/>
              </a:defRPr>
            </a:pPr>
            <a:r>
              <a:t>Standarisasi Prosedur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7360" y="61722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t>SOP tata kelola TI belum terdokumentasi secara formal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BBBBB"/>
                </a:solidFill>
                <a:latin typeface="Calibri"/>
              </a:defRPr>
            </a:pPr>
            <a:r>
              <a:t>3/17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D6"/>
                </a:solidFill>
                <a:latin typeface="Calibri"/>
              </a:defRPr>
            </a:pPr>
            <a:r>
              <a:t>01 | PENDAHULUAN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772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Rumusan Masalah &amp; Tujuan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325880"/>
            <a:ext cx="2743200" cy="36576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53935"/>
                </a:solidFill>
                <a:latin typeface="Calibri"/>
              </a:defRPr>
            </a:pPr>
            <a:r>
              <a:t>RUMUSAN MASALAH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011680"/>
            <a:ext cx="1828800" cy="36576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>
                <a:solidFill>
                  <a:srgbClr val="BBBBBB"/>
                </a:solidFill>
                <a:latin typeface="Calibri"/>
              </a:defRPr>
            </a:pPr>
            <a:r>
              <a:t>•  Bagaimana capability level tata kelola TI pada 5 domain COBIT 2019?</a:t>
            </a:r>
          </a:p>
          <a:p>
            <a:pPr>
              <a:spcAft>
                <a:spcPts val="1400"/>
              </a:spcAft>
              <a:defRPr sz="1300">
                <a:solidFill>
                  <a:srgbClr val="BBBBBB"/>
                </a:solidFill>
                <a:latin typeface="Calibri"/>
              </a:defRPr>
            </a:pPr>
            <a:r>
              <a:t>•  Seberapa besar GAP antara kondisi as-is dengan to-be?</a:t>
            </a:r>
          </a:p>
          <a:p>
            <a:pPr>
              <a:spcAft>
                <a:spcPts val="1400"/>
              </a:spcAft>
              <a:defRPr sz="1300">
                <a:solidFill>
                  <a:srgbClr val="BBBBBB"/>
                </a:solidFill>
                <a:latin typeface="Calibri"/>
              </a:defRPr>
            </a:pPr>
            <a:r>
              <a:t>•  Rekomendasi perbaikan apa yang dapat diberikan?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645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BC8C"/>
                </a:solidFill>
                <a:latin typeface="Calibri"/>
              </a:defRPr>
            </a:pPr>
            <a:r>
              <a:t>TUJUAN AUDIT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2011680"/>
            <a:ext cx="1828800" cy="36576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28600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>
                <a:solidFill>
                  <a:srgbClr val="BBBBBB"/>
                </a:solidFill>
                <a:latin typeface="Calibri"/>
              </a:defRPr>
            </a:pPr>
            <a:r>
              <a:t>•  Mengukur capability level pada 5 domain COBIT 2019</a:t>
            </a:r>
          </a:p>
          <a:p>
            <a:pPr>
              <a:spcAft>
                <a:spcPts val="1400"/>
              </a:spcAft>
              <a:defRPr sz="1300">
                <a:solidFill>
                  <a:srgbClr val="BBBBBB"/>
                </a:solidFill>
                <a:latin typeface="Calibri"/>
              </a:defRPr>
            </a:pPr>
            <a:r>
              <a:t>•  Mengidentifikasi GAP antara as-is vs to-be</a:t>
            </a:r>
          </a:p>
          <a:p>
            <a:pPr>
              <a:spcAft>
                <a:spcPts val="1400"/>
              </a:spcAft>
              <a:defRPr sz="1300">
                <a:solidFill>
                  <a:srgbClr val="BBBBBB"/>
                </a:solidFill>
                <a:latin typeface="Calibri"/>
              </a:defRPr>
            </a:pPr>
            <a:r>
              <a:t>•  Menyusun rekomendasi perbaikan yang implementatif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BBBBB"/>
                </a:solidFill>
                <a:latin typeface="Calibri"/>
              </a:defRPr>
            </a:pPr>
            <a:r>
              <a:t>4/17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D6"/>
                </a:solidFill>
                <a:latin typeface="Calibri"/>
              </a:defRPr>
            </a:pPr>
            <a:r>
              <a:t>02 | PROFIL PERUSAHAAN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772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PT. Murni Solusindo Nusantara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325880"/>
            <a:ext cx="2743200" cy="36576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737360"/>
            <a:ext cx="5029200" cy="54864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828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6D6"/>
                </a:solidFill>
                <a:latin typeface="Calibri"/>
              </a:defRPr>
            </a:pPr>
            <a:r>
              <a:t>🏢  Nama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1828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PT. Murni Solusindo Nusantara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423160"/>
            <a:ext cx="5029200" cy="54864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2514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6D6"/>
                </a:solidFill>
                <a:latin typeface="Calibri"/>
              </a:defRPr>
            </a:pPr>
            <a:r>
              <a:t>📋  Bidang Usaha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514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Distributor alat hitung uang &amp; deteksi uang palsu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3108960"/>
            <a:ext cx="5029200" cy="54864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3200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6D6"/>
                </a:solidFill>
                <a:latin typeface="Calibri"/>
              </a:defRPr>
            </a:pPr>
            <a:r>
              <a:t>💻  Produk Digital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3200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Web Builder SaaS, Listing Property, Indoconnex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3794760"/>
            <a:ext cx="5029200" cy="54864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3886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6D6"/>
                </a:solidFill>
                <a:latin typeface="Calibri"/>
              </a:defRPr>
            </a:pPr>
            <a:r>
              <a:t>👥  Departemen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3886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HR, Finance, IT, Digital Marketing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4480560"/>
            <a:ext cx="5029200" cy="54864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20" y="4572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6D6"/>
                </a:solidFill>
                <a:latin typeface="Calibri"/>
              </a:defRPr>
            </a:pPr>
            <a:r>
              <a:t>🎯  Fokus Audit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4572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Divisi IT &amp; Digital Marketing (Web Dev &amp; SEO)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1737360"/>
            <a:ext cx="5029200" cy="466344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1828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96D6"/>
                </a:solidFill>
                <a:latin typeface="Calibri"/>
              </a:defRPr>
            </a:pPr>
            <a:r>
              <a:t>RESPONDEN KUESIONER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23774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BB"/>
                </a:solidFill>
                <a:latin typeface="Calibri"/>
              </a:defRPr>
            </a:pPr>
            <a:r>
              <a:t>•  Kepala Divisi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20" y="23774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6D6"/>
                </a:solidFill>
                <a:latin typeface="Calibri"/>
              </a:defRPr>
            </a:pPr>
            <a:r>
              <a:t>1 orang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27432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BB"/>
                </a:solidFill>
                <a:latin typeface="Calibri"/>
              </a:defRPr>
            </a:pPr>
            <a:r>
              <a:t>•  Senior Web Developer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20" y="27432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6D6"/>
                </a:solidFill>
                <a:latin typeface="Calibri"/>
              </a:defRPr>
            </a:pPr>
            <a:r>
              <a:t>1 orang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31089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BB"/>
                </a:solidFill>
                <a:latin typeface="Calibri"/>
              </a:defRPr>
            </a:pPr>
            <a:r>
              <a:t>•  Junior Web Developer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20" y="3108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6D6"/>
                </a:solidFill>
                <a:latin typeface="Calibri"/>
              </a:defRPr>
            </a:pPr>
            <a:r>
              <a:t>1 orang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34747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BB"/>
                </a:solidFill>
                <a:latin typeface="Calibri"/>
              </a:defRPr>
            </a:pPr>
            <a:r>
              <a:t>•  Content &amp; SEO Specialist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75520" y="34747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6D6"/>
                </a:solidFill>
                <a:latin typeface="Calibri"/>
              </a:defRPr>
            </a:pPr>
            <a:r>
              <a:t>1 orang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38404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BB"/>
                </a:solidFill>
                <a:latin typeface="Calibri"/>
              </a:defRPr>
            </a:pPr>
            <a:r>
              <a:t>•  Staff IT Support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75520" y="38404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6D6"/>
                </a:solidFill>
                <a:latin typeface="Calibri"/>
              </a:defRPr>
            </a:pPr>
            <a:r>
              <a:t>1 orang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4206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BB"/>
                </a:solidFill>
                <a:latin typeface="Calibri"/>
              </a:defRPr>
            </a:pPr>
            <a:r>
              <a:t>•  Digital Marketing Specialist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75520" y="4206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6D6"/>
                </a:solidFill>
                <a:latin typeface="Calibri"/>
              </a:defRPr>
            </a:pPr>
            <a:r>
              <a:t>1 orang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0" y="45720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BB"/>
                </a:solidFill>
                <a:latin typeface="Calibri"/>
              </a:defRPr>
            </a:pPr>
            <a:r>
              <a:t>•  Staff Finance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75520" y="4572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6D6"/>
                </a:solidFill>
                <a:latin typeface="Calibri"/>
              </a:defRPr>
            </a:pPr>
            <a:r>
              <a:t>1 orang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20" y="49377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BB"/>
                </a:solidFill>
                <a:latin typeface="Calibri"/>
              </a:defRPr>
            </a:pPr>
            <a:r>
              <a:t>•  Staff HR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75520" y="49377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6D6"/>
                </a:solidFill>
                <a:latin typeface="Calibri"/>
              </a:defRPr>
            </a:pPr>
            <a:r>
              <a:t>1 orang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55778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D600"/>
                </a:solidFill>
                <a:latin typeface="Calibri"/>
              </a:defRPr>
            </a:pPr>
            <a:r>
              <a:t>Total: 8 Responden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BBBBB"/>
                </a:solidFill>
                <a:latin typeface="Calibri"/>
              </a:defRPr>
            </a:pPr>
            <a:r>
              <a:t>5/17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D6"/>
                </a:solidFill>
                <a:latin typeface="Calibri"/>
              </a:defRPr>
            </a:pPr>
            <a:r>
              <a:t>03 |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772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COBIT 2019 —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325880"/>
            <a:ext cx="2743200" cy="36576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Calibri"/>
              </a:defRPr>
            </a:pPr>
            <a:r>
              <a:t>COBIT 2019 dikembangkan oleh ISACA sebagai framework tata kelola dan manajemen TI terkini. Berbasis CMMI, fleksibel, dan mengintegrasikan ITIL, TOGAF, serta standar internasional lainnya.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560320"/>
            <a:ext cx="2560320" cy="182880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96D6"/>
                </a:solidFill>
                <a:latin typeface="Calibri"/>
              </a:defRPr>
            </a:pPr>
            <a:r>
              <a:t>40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918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Proses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6576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BB"/>
                </a:solidFill>
                <a:latin typeface="Calibri"/>
              </a:defRPr>
            </a:pPr>
            <a:r>
              <a:t>5 Governance + 35 Management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03320" y="2560320"/>
            <a:ext cx="2560320" cy="182880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03320" y="26517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96D6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32918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Prinsip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6576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BB"/>
                </a:solidFill>
                <a:latin typeface="Calibri"/>
              </a:defRPr>
            </a:pPr>
            <a:r>
              <a:t>Sistem &amp; Kerangka Tata Kelola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92240" y="2560320"/>
            <a:ext cx="2560320" cy="182880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26517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96D6"/>
                </a:solidFill>
                <a:latin typeface="Calibri"/>
              </a:defRPr>
            </a:pPr>
            <a:r>
              <a:t>0-5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2918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Cap. Level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6576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BB"/>
                </a:solidFill>
                <a:latin typeface="Calibri"/>
              </a:defRPr>
            </a:pPr>
            <a:r>
              <a:t>Berbasis CMMI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81159" y="2560320"/>
            <a:ext cx="2560320" cy="182880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81159" y="26517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96D6"/>
                </a:solidFill>
                <a:latin typeface="Calibri"/>
              </a:defRPr>
            </a:pPr>
            <a:r>
              <a:t>N/P/L/F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1159" y="32918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Rating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1159" y="36576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BB"/>
                </a:solidFill>
                <a:latin typeface="Calibri"/>
              </a:defRPr>
            </a:pPr>
            <a:r>
              <a:t>Not/Partially/Largely/Fully Achieved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754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D6"/>
                </a:solidFill>
                <a:latin typeface="Calibri"/>
              </a:defRPr>
            </a:pPr>
            <a:r>
              <a:t>CAPABILITY LEVEL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5212080"/>
            <a:ext cx="1645920" cy="45720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23036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D1B2A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523036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D1B2A"/>
                </a:solidFill>
                <a:latin typeface="Calibri"/>
              </a:defRPr>
            </a:pPr>
            <a:r>
              <a:t>Incomplete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0" y="5212080"/>
            <a:ext cx="1645920" cy="4572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0" y="523036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D1B2A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523036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D1B2A"/>
                </a:solidFill>
                <a:latin typeface="Calibri"/>
              </a:defRPr>
            </a:pPr>
            <a:r>
              <a:t>Performed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0" y="5212080"/>
            <a:ext cx="1645920" cy="45720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0" y="523036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D1B2A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0" y="523036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D1B2A"/>
                </a:solidFill>
                <a:latin typeface="Calibri"/>
              </a:defRPr>
            </a:pPr>
            <a:r>
              <a:t>Managed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5212080"/>
            <a:ext cx="1645920" cy="457200"/>
          </a:xfrm>
          <a:prstGeom prst="rect">
            <a:avLst/>
          </a:prstGeom>
          <a:solidFill>
            <a:srgbClr val="00B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523036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D1B2A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523036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D1B2A"/>
                </a:solidFill>
                <a:latin typeface="Calibri"/>
              </a:defRPr>
            </a:pPr>
            <a:r>
              <a:t>Established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29600" y="5212080"/>
            <a:ext cx="1645920" cy="4572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0" y="523036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D1B2A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0" y="523036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D1B2A"/>
                </a:solidFill>
                <a:latin typeface="Calibri"/>
              </a:defRPr>
            </a:pPr>
            <a:r>
              <a:t>Predictable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058400" y="5212080"/>
            <a:ext cx="1645920" cy="457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0" y="523036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D1B2A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523036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D1B2A"/>
                </a:solidFill>
                <a:latin typeface="Calibri"/>
              </a:defRPr>
            </a:pPr>
            <a:r>
              <a:t>Optimizing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BBBBB"/>
                </a:solidFill>
                <a:latin typeface="Calibri"/>
              </a:defRPr>
            </a:pPr>
            <a:r>
              <a:t>6/17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D6"/>
                </a:solidFill>
                <a:latin typeface="Calibri"/>
              </a:defRPr>
            </a:pPr>
            <a:r>
              <a:t>03 |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772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Domain COBIT 2019 yang Diaudit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325880"/>
            <a:ext cx="2743200" cy="36576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737360"/>
            <a:ext cx="10515600" cy="82296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7280" y="1828800"/>
            <a:ext cx="640080" cy="640080"/>
          </a:xfrm>
          <a:prstGeom prst="rect">
            <a:avLst/>
          </a:prstGeom>
          <a:solidFill>
            <a:srgbClr val="153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47088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Calibri"/>
              </a:defRPr>
            </a:pPr>
            <a:r>
              <a:t>⚠️</a:t>
            </a:r>
          </a:p>
        </p:txBody>
      </p:sp>
      <p:sp>
        <p:nvSpPr>
          <p:cNvPr id="9" name="Rectangle 8"/>
          <p:cNvSpPr/>
          <p:nvPr/>
        </p:nvSpPr>
        <p:spPr>
          <a:xfrm>
            <a:off x="1920240" y="1874519"/>
            <a:ext cx="1097280" cy="32004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20240" y="1892807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D1B2A"/>
                </a:solidFill>
                <a:latin typeface="Calibri"/>
              </a:defRPr>
            </a:pPr>
            <a:r>
              <a:t>APO12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18288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Managed Risk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1488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t>Manajemen risiko platform digital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2697480"/>
            <a:ext cx="10515600" cy="82296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" y="2788920"/>
            <a:ext cx="640080" cy="640080"/>
          </a:xfrm>
          <a:prstGeom prst="rect">
            <a:avLst/>
          </a:prstGeom>
          <a:solidFill>
            <a:srgbClr val="153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2807208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Calibri"/>
              </a:defRPr>
            </a:pPr>
            <a:r>
              <a:t>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20240" y="2834640"/>
            <a:ext cx="1097280" cy="32004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20240" y="285292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D1B2A"/>
                </a:solidFill>
                <a:latin typeface="Calibri"/>
              </a:defRPr>
            </a:pPr>
            <a:r>
              <a:t>APO13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27889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Managed Security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31089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t>Keamanan informasi &amp; data pelanggan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3657600"/>
            <a:ext cx="10515600" cy="82296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97280" y="3749039"/>
            <a:ext cx="640080" cy="640080"/>
          </a:xfrm>
          <a:prstGeom prst="rect">
            <a:avLst/>
          </a:prstGeom>
          <a:solidFill>
            <a:srgbClr val="153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3767328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Calibri"/>
              </a:defRPr>
            </a:pPr>
            <a:r>
              <a:t>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920240" y="3794760"/>
            <a:ext cx="1097280" cy="32004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920240" y="38130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D1B2A"/>
                </a:solidFill>
                <a:latin typeface="Calibri"/>
              </a:defRPr>
            </a:pPr>
            <a:r>
              <a:t>BAI06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374903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Managed IT Changes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40690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t>Change management web development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400" y="4617720"/>
            <a:ext cx="10515600" cy="82296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97280" y="4709160"/>
            <a:ext cx="640080" cy="640080"/>
          </a:xfrm>
          <a:prstGeom prst="rect">
            <a:avLst/>
          </a:prstGeom>
          <a:solidFill>
            <a:srgbClr val="153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7280" y="4727448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Calibri"/>
              </a:defRPr>
            </a:pPr>
            <a:r>
              <a:t>⚙️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920240" y="4754880"/>
            <a:ext cx="1097280" cy="32004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920240" y="477316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D1B2A"/>
                </a:solidFill>
                <a:latin typeface="Calibri"/>
              </a:defRPr>
            </a:pPr>
            <a:r>
              <a:t>DSS01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47091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Managed Operations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0" y="5029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t>Operasional harian platform SaaS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4400" y="5577840"/>
            <a:ext cx="10515600" cy="82296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97280" y="5669279"/>
            <a:ext cx="640080" cy="640080"/>
          </a:xfrm>
          <a:prstGeom prst="rect">
            <a:avLst/>
          </a:prstGeom>
          <a:solidFill>
            <a:srgbClr val="153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97280" y="5687568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Calibri"/>
              </a:defRPr>
            </a:pPr>
            <a:r>
              <a:t>🛡️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920240" y="5715000"/>
            <a:ext cx="1097280" cy="32004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920240" y="573328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D1B2A"/>
                </a:solidFill>
                <a:latin typeface="Calibri"/>
              </a:defRPr>
            </a:pPr>
            <a:r>
              <a:t>DSS05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00400" y="566927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Managed Security Services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00400" y="59893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t>Layanan keamanan infrastruktur digital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BBBBB"/>
                </a:solidFill>
                <a:latin typeface="Calibri"/>
              </a:defRPr>
            </a:pPr>
            <a:r>
              <a:t>7/17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D6"/>
                </a:solidFill>
                <a:latin typeface="Calibri"/>
              </a:defRPr>
            </a:pPr>
            <a:r>
              <a:t>04 | METODOLOGI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772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RACI Matrix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325880"/>
            <a:ext cx="2743200" cy="36576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Calibri"/>
              </a:defRPr>
            </a:pPr>
            <a:r>
              <a:t>RACI Matrix mendefinisikan peran dan tanggung jawab setiap pihak dalam pelaksanaan audit.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377440"/>
            <a:ext cx="457200" cy="4572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39572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D1B2A"/>
                </a:solidFill>
                <a:latin typeface="Calibri"/>
              </a:defRPr>
            </a:pPr>
            <a:r>
              <a:t>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3774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Responsible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6060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BB"/>
                </a:solidFill>
                <a:latin typeface="Calibri"/>
              </a:defRPr>
            </a:pPr>
            <a:r>
              <a:t>Melaksanakan tugas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03320" y="2377440"/>
            <a:ext cx="457200" cy="457200"/>
          </a:xfrm>
          <a:prstGeom prst="rect">
            <a:avLst/>
          </a:prstGeom>
          <a:solidFill>
            <a:srgbClr val="00B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03320" y="239572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D1B2A"/>
                </a:solidFill>
                <a:latin typeface="Calibri"/>
              </a:defRPr>
            </a:pPr>
            <a: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59" y="23774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Accountable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59" y="26060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BB"/>
                </a:solidFill>
                <a:latin typeface="Calibri"/>
              </a:defRPr>
            </a:pPr>
            <a:r>
              <a:t>Bertanggung jawab atas keputusan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92240" y="2377440"/>
            <a:ext cx="457200" cy="45720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239572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D1B2A"/>
                </a:solidFill>
                <a:latin typeface="Calibri"/>
              </a:defRPr>
            </a:pPr>
            <a: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79" y="23774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Consulted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79" y="26060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BB"/>
                </a:solidFill>
                <a:latin typeface="Calibri"/>
              </a:defRPr>
            </a:pPr>
            <a:r>
              <a:t>Dimintai pendapat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81159" y="2377440"/>
            <a:ext cx="457200" cy="457200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81159" y="239572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D1B2A"/>
                </a:solidFill>
                <a:latin typeface="Calibri"/>
              </a:defRPr>
            </a:pPr>
            <a:r>
              <a:t>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29799" y="23774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Informed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29799" y="26060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BB"/>
                </a:solidFill>
                <a:latin typeface="Calibri"/>
              </a:defRPr>
            </a:pPr>
            <a:r>
              <a:t>Diberikan informasi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" y="3200400"/>
            <a:ext cx="3017520" cy="41148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3218688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D1B2A"/>
                </a:solidFill>
                <a:latin typeface="Calibri"/>
              </a:defRPr>
            </a:pPr>
            <a:r>
              <a:t>Domain / Aktivitas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0" y="3200400"/>
            <a:ext cx="1143000" cy="41148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0" y="3218688"/>
            <a:ext cx="1143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D1B2A"/>
                </a:solidFill>
                <a:latin typeface="Calibri"/>
              </a:defRPr>
            </a:pPr>
            <a:r>
              <a:t>Ka. IT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03520" y="3200400"/>
            <a:ext cx="1143000" cy="41148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03520" y="3218688"/>
            <a:ext cx="1143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D1B2A"/>
                </a:solidFill>
                <a:latin typeface="Calibri"/>
              </a:defRPr>
            </a:pPr>
            <a:r>
              <a:t>Web Dev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92240" y="3200400"/>
            <a:ext cx="1143000" cy="41148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3218688"/>
            <a:ext cx="1143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D1B2A"/>
                </a:solidFill>
                <a:latin typeface="Calibri"/>
              </a:defRPr>
            </a:pPr>
            <a:r>
              <a:t>IT Supp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680960" y="3200400"/>
            <a:ext cx="1143000" cy="41148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80960" y="3218688"/>
            <a:ext cx="1143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D1B2A"/>
                </a:solidFill>
                <a:latin typeface="Calibri"/>
              </a:defRPr>
            </a:pPr>
            <a:r>
              <a:t>Dig.Mkt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69680" y="3200400"/>
            <a:ext cx="1143000" cy="41148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69680" y="3218688"/>
            <a:ext cx="1143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D1B2A"/>
                </a:solidFill>
                <a:latin typeface="Calibri"/>
              </a:defRPr>
            </a:pPr>
            <a:r>
              <a:t>Finance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058400" y="3200400"/>
            <a:ext cx="1143000" cy="41148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58400" y="3218688"/>
            <a:ext cx="1143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D1B2A"/>
                </a:solidFill>
                <a:latin typeface="Calibri"/>
              </a:defRPr>
            </a:pPr>
            <a:r>
              <a:t>HR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4400" y="3657600"/>
            <a:ext cx="3017520" cy="45720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370332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BB"/>
                </a:solidFill>
                <a:latin typeface="Calibri"/>
              </a:defRPr>
            </a:pPr>
            <a:r>
              <a:t>APO12 — Managed Risk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0" y="3657600"/>
            <a:ext cx="1143000" cy="45720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0" y="3703320"/>
            <a:ext cx="1143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BC8C"/>
                </a:solidFill>
                <a:latin typeface="Calibri"/>
              </a:defRPr>
            </a:pPr>
            <a:r>
              <a:t>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303520" y="3657600"/>
            <a:ext cx="1143000" cy="45720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303520" y="3703320"/>
            <a:ext cx="1143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96D6"/>
                </a:solidFill>
                <a:latin typeface="Calibri"/>
              </a:defRPr>
            </a:pPr>
            <a:r>
              <a:t>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92240" y="3657600"/>
            <a:ext cx="1143000" cy="45720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92240" y="3703320"/>
            <a:ext cx="1143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96D6"/>
                </a:solidFill>
                <a:latin typeface="Calibri"/>
              </a:defRPr>
            </a:pPr>
            <a:r>
              <a:t>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680960" y="3657600"/>
            <a:ext cx="1143000" cy="45720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680960" y="3703320"/>
            <a:ext cx="1143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D600"/>
                </a:solidFill>
                <a:latin typeface="Calibri"/>
              </a:defRPr>
            </a:pPr>
            <a:r>
              <a:t>C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869680" y="3657600"/>
            <a:ext cx="1143000" cy="45720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869680" y="3703320"/>
            <a:ext cx="1143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BBBBB"/>
                </a:solidFill>
                <a:latin typeface="Calibri"/>
              </a:defRPr>
            </a:pPr>
            <a:r>
              <a:t>I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058400" y="3657600"/>
            <a:ext cx="1143000" cy="45720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0" y="3703320"/>
            <a:ext cx="1143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BBBBB"/>
                </a:solidFill>
                <a:latin typeface="Calibri"/>
              </a:defRPr>
            </a:pPr>
            <a:r>
              <a:t>I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14400" y="4160520"/>
            <a:ext cx="3017520" cy="4572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05840" y="42062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BB"/>
                </a:solidFill>
                <a:latin typeface="Calibri"/>
              </a:defRPr>
            </a:pPr>
            <a:r>
              <a:t>APO13 — Managed Security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114800" y="4160520"/>
            <a:ext cx="1143000" cy="4572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114800" y="4206240"/>
            <a:ext cx="1143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BC8C"/>
                </a:solidFill>
                <a:latin typeface="Calibri"/>
              </a:defRPr>
            </a:pPr>
            <a:r>
              <a:t>A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303520" y="4160520"/>
            <a:ext cx="1143000" cy="4572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303520" y="4206240"/>
            <a:ext cx="1143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96D6"/>
                </a:solidFill>
                <a:latin typeface="Calibri"/>
              </a:defRPr>
            </a:pPr>
            <a:r>
              <a:t>R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492240" y="4160520"/>
            <a:ext cx="1143000" cy="4572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92240" y="4206240"/>
            <a:ext cx="1143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96D6"/>
                </a:solidFill>
                <a:latin typeface="Calibri"/>
              </a:defRPr>
            </a:pPr>
            <a:r>
              <a:t>R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680960" y="4160520"/>
            <a:ext cx="1143000" cy="4572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680960" y="4206240"/>
            <a:ext cx="1143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BBBBB"/>
                </a:solidFill>
                <a:latin typeface="Calibri"/>
              </a:defRPr>
            </a:pPr>
            <a:r>
              <a:t>I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869680" y="4160520"/>
            <a:ext cx="1143000" cy="4572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869680" y="4206240"/>
            <a:ext cx="1143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BBBBB"/>
                </a:solidFill>
                <a:latin typeface="Calibri"/>
              </a:defRPr>
            </a:pPr>
            <a:r>
              <a:t>I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0058400" y="4160520"/>
            <a:ext cx="1143000" cy="4572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058400" y="4206240"/>
            <a:ext cx="1143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D600"/>
                </a:solidFill>
                <a:latin typeface="Calibri"/>
              </a:defRPr>
            </a:pPr>
            <a:r>
              <a:t>C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14400" y="4663440"/>
            <a:ext cx="3017520" cy="45720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05840" y="4709159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BB"/>
                </a:solidFill>
                <a:latin typeface="Calibri"/>
              </a:defRPr>
            </a:pPr>
            <a:r>
              <a:t>BAI06 — Managed IT Changes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114800" y="4663440"/>
            <a:ext cx="1143000" cy="45720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114800" y="4709159"/>
            <a:ext cx="1143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BC8C"/>
                </a:solidFill>
                <a:latin typeface="Calibri"/>
              </a:defRPr>
            </a:pPr>
            <a:r>
              <a:t>A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303520" y="4663440"/>
            <a:ext cx="1143000" cy="45720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303520" y="4709159"/>
            <a:ext cx="1143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96D6"/>
                </a:solidFill>
                <a:latin typeface="Calibri"/>
              </a:defRPr>
            </a:pPr>
            <a:r>
              <a:t>R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492240" y="4663440"/>
            <a:ext cx="1143000" cy="45720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492240" y="4709159"/>
            <a:ext cx="1143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96D6"/>
                </a:solidFill>
                <a:latin typeface="Calibri"/>
              </a:defRPr>
            </a:pPr>
            <a:r>
              <a:t>R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680960" y="4663440"/>
            <a:ext cx="1143000" cy="45720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680960" y="4709159"/>
            <a:ext cx="1143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BBBBB"/>
                </a:solidFill>
                <a:latin typeface="Calibri"/>
              </a:defRPr>
            </a:pPr>
            <a:r>
              <a:t>I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869680" y="4663440"/>
            <a:ext cx="1143000" cy="45720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869680" y="4709159"/>
            <a:ext cx="1143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BBBBB"/>
                </a:solidFill>
                <a:latin typeface="Calibri"/>
              </a:defRPr>
            </a:pPr>
            <a:r>
              <a:t>I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0058400" y="4663440"/>
            <a:ext cx="1143000" cy="45720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0058400" y="4709159"/>
            <a:ext cx="1143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BBBBB"/>
                </a:solidFill>
                <a:latin typeface="Calibri"/>
              </a:defRPr>
            </a:pPr>
            <a:r>
              <a:t>I</a:t>
            </a:r>
          </a:p>
        </p:txBody>
      </p:sp>
      <p:sp>
        <p:nvSpPr>
          <p:cNvPr id="79" name="Rectangle 78"/>
          <p:cNvSpPr/>
          <p:nvPr/>
        </p:nvSpPr>
        <p:spPr>
          <a:xfrm>
            <a:off x="914400" y="5166360"/>
            <a:ext cx="3017520" cy="4572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005840" y="52120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BB"/>
                </a:solidFill>
                <a:latin typeface="Calibri"/>
              </a:defRPr>
            </a:pPr>
            <a:r>
              <a:t>DSS01 — Managed Operations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114800" y="5166360"/>
            <a:ext cx="1143000" cy="4572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114800" y="5212080"/>
            <a:ext cx="1143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BC8C"/>
                </a:solidFill>
                <a:latin typeface="Calibri"/>
              </a:defRPr>
            </a:pPr>
            <a:r>
              <a:t>A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303520" y="5166360"/>
            <a:ext cx="1143000" cy="4572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303520" y="5212080"/>
            <a:ext cx="1143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96D6"/>
                </a:solidFill>
                <a:latin typeface="Calibri"/>
              </a:defRPr>
            </a:pPr>
            <a:r>
              <a:t>R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492240" y="5166360"/>
            <a:ext cx="1143000" cy="4572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492240" y="5212080"/>
            <a:ext cx="1143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96D6"/>
                </a:solidFill>
                <a:latin typeface="Calibri"/>
              </a:defRPr>
            </a:pPr>
            <a:r>
              <a:t>R</a:t>
            </a:r>
          </a:p>
        </p:txBody>
      </p:sp>
      <p:sp>
        <p:nvSpPr>
          <p:cNvPr id="87" name="Rectangle 86"/>
          <p:cNvSpPr/>
          <p:nvPr/>
        </p:nvSpPr>
        <p:spPr>
          <a:xfrm>
            <a:off x="7680960" y="5166360"/>
            <a:ext cx="1143000" cy="4572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7680960" y="5212080"/>
            <a:ext cx="1143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BBBBB"/>
                </a:solidFill>
                <a:latin typeface="Calibri"/>
              </a:defRPr>
            </a:pPr>
            <a:r>
              <a:t>I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869680" y="5166360"/>
            <a:ext cx="1143000" cy="4572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869680" y="5212080"/>
            <a:ext cx="1143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BBBBB"/>
                </a:solidFill>
                <a:latin typeface="Calibri"/>
              </a:defRPr>
            </a:pPr>
            <a:r>
              <a:t>I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0058400" y="5166360"/>
            <a:ext cx="1143000" cy="4572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0058400" y="5212080"/>
            <a:ext cx="1143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BBBBB"/>
                </a:solidFill>
                <a:latin typeface="Calibri"/>
              </a:defRPr>
            </a:pPr>
            <a:r>
              <a:t>I</a:t>
            </a:r>
          </a:p>
        </p:txBody>
      </p:sp>
      <p:sp>
        <p:nvSpPr>
          <p:cNvPr id="93" name="Rectangle 92"/>
          <p:cNvSpPr/>
          <p:nvPr/>
        </p:nvSpPr>
        <p:spPr>
          <a:xfrm>
            <a:off x="914400" y="5669280"/>
            <a:ext cx="3017520" cy="45720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005840" y="57150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BB"/>
                </a:solidFill>
                <a:latin typeface="Calibri"/>
              </a:defRPr>
            </a:pPr>
            <a:r>
              <a:t>DSS05 — Managed Security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114800" y="5669280"/>
            <a:ext cx="1143000" cy="45720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4114800" y="5715000"/>
            <a:ext cx="1143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BC8C"/>
                </a:solidFill>
                <a:latin typeface="Calibri"/>
              </a:defRPr>
            </a:pPr>
            <a:r>
              <a:t>A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303520" y="5669280"/>
            <a:ext cx="1143000" cy="45720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5303520" y="5715000"/>
            <a:ext cx="1143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96D6"/>
                </a:solidFill>
                <a:latin typeface="Calibri"/>
              </a:defRPr>
            </a:pPr>
            <a:r>
              <a:t>R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492240" y="5669280"/>
            <a:ext cx="1143000" cy="45720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492240" y="5715000"/>
            <a:ext cx="1143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96D6"/>
                </a:solidFill>
                <a:latin typeface="Calibri"/>
              </a:defRPr>
            </a:pPr>
            <a:r>
              <a:t>R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7680960" y="5669280"/>
            <a:ext cx="1143000" cy="45720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680960" y="5715000"/>
            <a:ext cx="1143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BBBBB"/>
                </a:solidFill>
                <a:latin typeface="Calibri"/>
              </a:defRPr>
            </a:pPr>
            <a:r>
              <a:t>I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8869680" y="5669280"/>
            <a:ext cx="1143000" cy="45720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8869680" y="5715000"/>
            <a:ext cx="1143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D600"/>
                </a:solidFill>
                <a:latin typeface="Calibri"/>
              </a:defRPr>
            </a:pPr>
            <a:r>
              <a:t>C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10058400" y="5669280"/>
            <a:ext cx="1143000" cy="45720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10058400" y="5715000"/>
            <a:ext cx="1143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BBBBB"/>
                </a:solidFill>
                <a:latin typeface="Calibri"/>
              </a:defRPr>
            </a:pPr>
            <a:r>
              <a:t>I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BBBBB"/>
                </a:solidFill>
                <a:latin typeface="Calibri"/>
              </a:defRPr>
            </a:pPr>
            <a:r>
              <a:t>8/17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D6"/>
                </a:solidFill>
                <a:latin typeface="Calibri"/>
              </a:defRPr>
            </a:pPr>
            <a:r>
              <a:t>04 | METODOLOGI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772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Alur Perhitungan Capability Level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325880"/>
            <a:ext cx="2743200" cy="36576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1463040" cy="22860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KUESIONER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1752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BB"/>
                </a:solidFill>
                <a:latin typeface="Calibri"/>
              </a:defRPr>
            </a:pPr>
            <a:r>
              <a:t>Skala Likert 1-5</a:t>
            </a:r>
            <a:br/>
            <a:r>
              <a:t>(STS, TS, R, S, SS)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7400" y="25603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96D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67712" y="1828800"/>
            <a:ext cx="1463040" cy="2286000"/>
          </a:xfrm>
          <a:prstGeom prst="rect">
            <a:avLst/>
          </a:prstGeom>
          <a:solidFill>
            <a:srgbClr val="153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67712" y="192024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67712" y="237744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HITUNG</a:t>
            </a:r>
            <a:br/>
            <a:r>
              <a:t>SKOR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67712" y="301752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BB"/>
                </a:solidFill>
                <a:latin typeface="Calibri"/>
              </a:defRPr>
            </a:pPr>
            <a:r>
              <a:t>Total skor per</a:t>
            </a:r>
            <a:br/>
            <a:r>
              <a:t>pertanyaan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85032" y="25603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96D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95344" y="1828800"/>
            <a:ext cx="1463040" cy="2286000"/>
          </a:xfrm>
          <a:prstGeom prst="rect">
            <a:avLst/>
          </a:prstGeom>
          <a:solidFill>
            <a:srgbClr val="153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95344" y="192024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95344" y="237744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HITUNG</a:t>
            </a:r>
            <a:br/>
            <a:r>
              <a:t>MEAN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95344" y="301752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BB"/>
                </a:solidFill>
                <a:latin typeface="Calibri"/>
              </a:defRPr>
            </a:pPr>
            <a:r>
              <a:t>Mean = Total /</a:t>
            </a:r>
            <a:br/>
            <a:r>
              <a:t>Jumlah Responden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12664" y="25603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96D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22976" y="1828800"/>
            <a:ext cx="1463040" cy="2286000"/>
          </a:xfrm>
          <a:prstGeom prst="rect">
            <a:avLst/>
          </a:prstGeom>
          <a:solidFill>
            <a:srgbClr val="153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22976" y="192024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22976" y="237744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% CAPAI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22976" y="301752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BB"/>
                </a:solidFill>
                <a:latin typeface="Calibri"/>
              </a:defRPr>
            </a:pPr>
            <a:r>
              <a:t>% = (Mean/5)</a:t>
            </a:r>
            <a:br/>
            <a:r>
              <a:t>× 100%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0296" y="25603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96D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50608" y="1828800"/>
            <a:ext cx="1463040" cy="22860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50608" y="192024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50608" y="237744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RATING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50608" y="301752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BB"/>
                </a:solidFill>
                <a:latin typeface="Calibri"/>
              </a:defRPr>
            </a:pPr>
            <a:r>
              <a:t>N/P/L/F</a:t>
            </a:r>
            <a:br/>
            <a:r>
              <a:t>berdasarkan 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67928" y="25603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96D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778240" y="1828800"/>
            <a:ext cx="1463040" cy="2286000"/>
          </a:xfrm>
          <a:prstGeom prst="rect">
            <a:avLst/>
          </a:prstGeom>
          <a:solidFill>
            <a:srgbClr val="00B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78240" y="192024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78240" y="237744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CAP.</a:t>
            </a:r>
            <a:br/>
            <a:r>
              <a:t>LEVEL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78240" y="301752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BB"/>
                </a:solidFill>
                <a:latin typeface="Calibri"/>
              </a:defRPr>
            </a:pPr>
            <a:r>
              <a:t>Level tertinggi</a:t>
            </a:r>
            <a:br/>
            <a:r>
              <a:t>dengan rating L/F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95560" y="25603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96D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405872" y="1828800"/>
            <a:ext cx="1463040" cy="228600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405872" y="192024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05872" y="237744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GAP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05872" y="301752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BB"/>
                </a:solidFill>
                <a:latin typeface="Calibri"/>
              </a:defRPr>
            </a:pPr>
            <a:r>
              <a:t>To-be − As-is</a:t>
            </a:r>
            <a:br/>
            <a:r>
              <a:t>= Selisih Level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45720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D6"/>
                </a:solidFill>
                <a:latin typeface="Calibri"/>
              </a:defRPr>
            </a:pPr>
            <a:r>
              <a:t>RATING SCALE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" y="5029200"/>
            <a:ext cx="457200" cy="45720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504748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D1B2A"/>
                </a:solidFill>
                <a:latin typeface="Calibri"/>
              </a:defRPr>
            </a:pPr>
            <a:r>
              <a:t>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63040" y="50292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Not Achieved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63040" y="52578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BB"/>
                </a:solidFill>
                <a:latin typeface="Calibri"/>
              </a:defRPr>
            </a:pPr>
            <a:r>
              <a:t>0–15%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0" y="5029200"/>
            <a:ext cx="457200" cy="4572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57600" y="504748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D1B2A"/>
                </a:solidFill>
                <a:latin typeface="Calibri"/>
              </a:defRPr>
            </a:pPr>
            <a:r>
              <a:t>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206240" y="50292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Partially Achieved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206240" y="52578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BB"/>
                </a:solidFill>
                <a:latin typeface="Calibri"/>
              </a:defRPr>
            </a:pPr>
            <a:r>
              <a:t>&gt;15–50%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00800" y="5029200"/>
            <a:ext cx="457200" cy="45720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00800" y="504748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D1B2A"/>
                </a:solidFill>
                <a:latin typeface="Calibri"/>
              </a:defRPr>
            </a:pPr>
            <a:r>
              <a:t>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949440" y="50292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Largely Achieved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49440" y="52578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BB"/>
                </a:solidFill>
                <a:latin typeface="Calibri"/>
              </a:defRPr>
            </a:pPr>
            <a:r>
              <a:t>&gt;50–85%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144000" y="5029200"/>
            <a:ext cx="457200" cy="457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144000" y="504748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D1B2A"/>
                </a:solidFill>
                <a:latin typeface="Calibri"/>
              </a:defRPr>
            </a:pPr>
            <a:r>
              <a:t>F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692640" y="50292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Fully Achieved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692640" y="52578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BB"/>
                </a:solidFill>
                <a:latin typeface="Calibri"/>
              </a:defRPr>
            </a:pPr>
            <a:r>
              <a:t>&gt;85–100%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BBBBB"/>
                </a:solidFill>
                <a:latin typeface="Calibri"/>
              </a:defRPr>
            </a:pPr>
            <a:r>
              <a:t>9/17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D6"/>
                </a:solidFill>
                <a:latin typeface="Calibri"/>
              </a:defRPr>
            </a:pPr>
            <a:r>
              <a:t>05 | HASIL 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772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Capability Level Per Domain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325880"/>
            <a:ext cx="2743200" cy="36576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737360"/>
            <a:ext cx="2240280" cy="4572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55648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D1B2A"/>
                </a:solidFill>
                <a:latin typeface="Calibri"/>
              </a:defRPr>
            </a:pPr>
            <a:r>
              <a:t>Domain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1737360"/>
            <a:ext cx="1600200" cy="4572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0" y="1755648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D1B2A"/>
                </a:solidFill>
                <a:latin typeface="Calibri"/>
              </a:defRPr>
            </a:pPr>
            <a:r>
              <a:t>Level 1 (%)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46320" y="1737360"/>
            <a:ext cx="1600200" cy="4572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0" y="1755648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D1B2A"/>
                </a:solidFill>
                <a:latin typeface="Calibri"/>
              </a:defRPr>
            </a:pPr>
            <a:r>
              <a:t>Level 2 (%)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92240" y="1737360"/>
            <a:ext cx="1600200" cy="4572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755648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D1B2A"/>
                </a:solidFill>
                <a:latin typeface="Calibri"/>
              </a:defRPr>
            </a:pPr>
            <a:r>
              <a:t>Level 3 (%)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1737360"/>
            <a:ext cx="1600200" cy="4572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0" y="1755648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D1B2A"/>
                </a:solidFill>
                <a:latin typeface="Calibri"/>
              </a:defRPr>
            </a:pPr>
            <a:r>
              <a:t>Cap. Level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2240280"/>
            <a:ext cx="2240280" cy="73152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22860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D6"/>
                </a:solidFill>
                <a:latin typeface="Calibri"/>
              </a:defRPr>
            </a:pPr>
            <a:r>
              <a:t>APO12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25603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BB"/>
                </a:solidFill>
                <a:latin typeface="Calibri"/>
              </a:defRPr>
            </a:pPr>
            <a:r>
              <a:t>Managed Risk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0" y="2240280"/>
            <a:ext cx="1600200" cy="73152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0" y="2331720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D600"/>
                </a:solidFill>
                <a:latin typeface="Calibri"/>
              </a:defRPr>
            </a:pPr>
            <a:r>
              <a:t>60.8%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2651760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BC8C"/>
                </a:solidFill>
                <a:latin typeface="Calibri"/>
              </a:defRPr>
            </a:pPr>
            <a:r>
              <a:t>L 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46320" y="2240280"/>
            <a:ext cx="1600200" cy="73152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46320" y="2331720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D600"/>
                </a:solidFill>
                <a:latin typeface="Calibri"/>
              </a:defRPr>
            </a:pPr>
            <a:r>
              <a:t>51.7%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0" y="2651760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BC8C"/>
                </a:solidFill>
                <a:latin typeface="Calibri"/>
              </a:defRPr>
            </a:pPr>
            <a:r>
              <a:t>L 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92240" y="2240280"/>
            <a:ext cx="1600200" cy="73152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2331720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8C00"/>
                </a:solidFill>
                <a:latin typeface="Calibri"/>
              </a:defRPr>
            </a:pPr>
            <a:r>
              <a:t>45.0%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2651760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53935"/>
                </a:solidFill>
                <a:latin typeface="Calibri"/>
              </a:defRPr>
            </a:pPr>
            <a:r>
              <a:t>P ✗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38160" y="2240280"/>
            <a:ext cx="1600200" cy="731520"/>
          </a:xfrm>
          <a:prstGeom prst="rect">
            <a:avLst/>
          </a:prstGeom>
          <a:solidFill>
            <a:srgbClr val="153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38160" y="2331720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96D6"/>
                </a:solidFill>
                <a:latin typeface="Calibri"/>
              </a:defRPr>
            </a:pPr>
            <a:r>
              <a:t>Level 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2651760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BB"/>
                </a:solidFill>
                <a:latin typeface="Calibri"/>
              </a:defRPr>
            </a:pPr>
            <a:r>
              <a:t>Managed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0" y="3063240"/>
            <a:ext cx="2240280" cy="7315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40" y="31089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D6"/>
                </a:solidFill>
                <a:latin typeface="Calibri"/>
              </a:defRPr>
            </a:pPr>
            <a:r>
              <a:t>APO13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33832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BB"/>
                </a:solidFill>
                <a:latin typeface="Calibri"/>
              </a:defRPr>
            </a:pPr>
            <a:r>
              <a:t>Managed Security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0" y="3063240"/>
            <a:ext cx="1600200" cy="7315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00400" y="3154680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D600"/>
                </a:solidFill>
                <a:latin typeface="Calibri"/>
              </a:defRPr>
            </a:pPr>
            <a:r>
              <a:t>65.0%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00400" y="3474720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BC8C"/>
                </a:solidFill>
                <a:latin typeface="Calibri"/>
              </a:defRPr>
            </a:pPr>
            <a:r>
              <a:t>L ✓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846320" y="3063240"/>
            <a:ext cx="1600200" cy="7315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846320" y="3154680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D600"/>
                </a:solidFill>
                <a:latin typeface="Calibri"/>
              </a:defRPr>
            </a:pPr>
            <a:r>
              <a:t>54.2%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46320" y="3474720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BC8C"/>
                </a:solidFill>
                <a:latin typeface="Calibri"/>
              </a:defRPr>
            </a:pPr>
            <a:r>
              <a:t>L ✓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92240" y="3063240"/>
            <a:ext cx="1600200" cy="7315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92240" y="3154680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8C00"/>
                </a:solidFill>
                <a:latin typeface="Calibri"/>
              </a:defRPr>
            </a:pPr>
            <a:r>
              <a:t>46.7%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40" y="3474720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53935"/>
                </a:solidFill>
                <a:latin typeface="Calibri"/>
              </a:defRPr>
            </a:pPr>
            <a:r>
              <a:t>P ✗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138160" y="3063240"/>
            <a:ext cx="1600200" cy="731520"/>
          </a:xfrm>
          <a:prstGeom prst="rect">
            <a:avLst/>
          </a:prstGeom>
          <a:solidFill>
            <a:srgbClr val="153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138160" y="3154680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96D6"/>
                </a:solidFill>
                <a:latin typeface="Calibri"/>
              </a:defRPr>
            </a:pPr>
            <a:r>
              <a:t>Level 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38160" y="3474720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BB"/>
                </a:solidFill>
                <a:latin typeface="Calibri"/>
              </a:defRPr>
            </a:pPr>
            <a:r>
              <a:t>Managed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14400" y="3886200"/>
            <a:ext cx="2240280" cy="73152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5840" y="39319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D6"/>
                </a:solidFill>
                <a:latin typeface="Calibri"/>
              </a:defRPr>
            </a:pPr>
            <a:r>
              <a:t>BAI06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5840" y="42062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BB"/>
                </a:solidFill>
                <a:latin typeface="Calibri"/>
              </a:defRPr>
            </a:pPr>
            <a:r>
              <a:t>Managed IT Changes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0" y="3886200"/>
            <a:ext cx="1600200" cy="73152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200400" y="3977639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D600"/>
                </a:solidFill>
                <a:latin typeface="Calibri"/>
              </a:defRPr>
            </a:pPr>
            <a:r>
              <a:t>62.5%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200400" y="4297680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BC8C"/>
                </a:solidFill>
                <a:latin typeface="Calibri"/>
              </a:defRPr>
            </a:pPr>
            <a:r>
              <a:t>L ✓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846320" y="3886200"/>
            <a:ext cx="1600200" cy="73152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846320" y="3977639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D600"/>
                </a:solidFill>
                <a:latin typeface="Calibri"/>
              </a:defRPr>
            </a:pPr>
            <a:r>
              <a:t>53.3%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846320" y="4297680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BC8C"/>
                </a:solidFill>
                <a:latin typeface="Calibri"/>
              </a:defRPr>
            </a:pPr>
            <a:r>
              <a:t>L ✓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492240" y="3886200"/>
            <a:ext cx="1600200" cy="73152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92240" y="3977639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8C00"/>
                </a:solidFill>
                <a:latin typeface="Calibri"/>
              </a:defRPr>
            </a:pPr>
            <a:r>
              <a:t>46.7%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92240" y="4297680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53935"/>
                </a:solidFill>
                <a:latin typeface="Calibri"/>
              </a:defRPr>
            </a:pPr>
            <a:r>
              <a:t>P ✗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138160" y="3886200"/>
            <a:ext cx="1600200" cy="731520"/>
          </a:xfrm>
          <a:prstGeom prst="rect">
            <a:avLst/>
          </a:prstGeom>
          <a:solidFill>
            <a:srgbClr val="153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138160" y="3977639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96D6"/>
                </a:solidFill>
                <a:latin typeface="Calibri"/>
              </a:defRPr>
            </a:pPr>
            <a:r>
              <a:t>Level 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138160" y="4297680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BB"/>
                </a:solidFill>
                <a:latin typeface="Calibri"/>
              </a:defRPr>
            </a:pPr>
            <a:r>
              <a:t>Managed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14400" y="4709160"/>
            <a:ext cx="2240280" cy="7315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05840" y="47548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D6"/>
                </a:solidFill>
                <a:latin typeface="Calibri"/>
              </a:defRPr>
            </a:pPr>
            <a:r>
              <a:t>DSS01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05840" y="50292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BB"/>
                </a:solidFill>
                <a:latin typeface="Calibri"/>
              </a:defRPr>
            </a:pPr>
            <a:r>
              <a:t>Managed Operations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200400" y="4709160"/>
            <a:ext cx="1600200" cy="7315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200400" y="4800600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D600"/>
                </a:solidFill>
                <a:latin typeface="Calibri"/>
              </a:defRPr>
            </a:pPr>
            <a:r>
              <a:t>66.7%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200400" y="5120640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BC8C"/>
                </a:solidFill>
                <a:latin typeface="Calibri"/>
              </a:defRPr>
            </a:pPr>
            <a:r>
              <a:t>L ✓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846320" y="4709160"/>
            <a:ext cx="1600200" cy="7315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846320" y="4800600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D600"/>
                </a:solidFill>
                <a:latin typeface="Calibri"/>
              </a:defRPr>
            </a:pPr>
            <a:r>
              <a:t>55.8%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846320" y="5120640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BC8C"/>
                </a:solidFill>
                <a:latin typeface="Calibri"/>
              </a:defRPr>
            </a:pPr>
            <a:r>
              <a:t>L ✓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492240" y="4709160"/>
            <a:ext cx="1600200" cy="7315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492240" y="4800600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8C00"/>
                </a:solidFill>
                <a:latin typeface="Calibri"/>
              </a:defRPr>
            </a:pPr>
            <a:r>
              <a:t>48.3%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492240" y="5120640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53935"/>
                </a:solidFill>
                <a:latin typeface="Calibri"/>
              </a:defRPr>
            </a:pPr>
            <a:r>
              <a:t>P ✗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138160" y="4709160"/>
            <a:ext cx="1600200" cy="731520"/>
          </a:xfrm>
          <a:prstGeom prst="rect">
            <a:avLst/>
          </a:prstGeom>
          <a:solidFill>
            <a:srgbClr val="153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138160" y="4800600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96D6"/>
                </a:solidFill>
                <a:latin typeface="Calibri"/>
              </a:defRPr>
            </a:pPr>
            <a:r>
              <a:t>Level 2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138160" y="5120640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BB"/>
                </a:solidFill>
                <a:latin typeface="Calibri"/>
              </a:defRPr>
            </a:pPr>
            <a:r>
              <a:t>Managed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14400" y="5532120"/>
            <a:ext cx="2240280" cy="73152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005840" y="55778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D6"/>
                </a:solidFill>
                <a:latin typeface="Calibri"/>
              </a:defRPr>
            </a:pPr>
            <a:r>
              <a:t>DSS05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05840" y="58521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BB"/>
                </a:solidFill>
                <a:latin typeface="Calibri"/>
              </a:defRPr>
            </a:pPr>
            <a:r>
              <a:t>Managed Sec. Services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200400" y="5532120"/>
            <a:ext cx="1600200" cy="73152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200400" y="5623560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D600"/>
                </a:solidFill>
                <a:latin typeface="Calibri"/>
              </a:defRPr>
            </a:pPr>
            <a:r>
              <a:t>67.5%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200400" y="5943600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BC8C"/>
                </a:solidFill>
                <a:latin typeface="Calibri"/>
              </a:defRPr>
            </a:pPr>
            <a:r>
              <a:t>L ✓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846320" y="5532120"/>
            <a:ext cx="1600200" cy="73152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846320" y="5623560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D600"/>
                </a:solidFill>
                <a:latin typeface="Calibri"/>
              </a:defRPr>
            </a:pPr>
            <a:r>
              <a:t>51.7%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846320" y="5943600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BC8C"/>
                </a:solidFill>
                <a:latin typeface="Calibri"/>
              </a:defRPr>
            </a:pPr>
            <a:r>
              <a:t>L ✓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492240" y="5532120"/>
            <a:ext cx="1600200" cy="73152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492240" y="5623560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8C00"/>
                </a:solidFill>
                <a:latin typeface="Calibri"/>
              </a:defRPr>
            </a:pPr>
            <a:r>
              <a:t>45.0%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492240" y="5943600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53935"/>
                </a:solidFill>
                <a:latin typeface="Calibri"/>
              </a:defRPr>
            </a:pPr>
            <a:r>
              <a:t>P ✗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138160" y="5532120"/>
            <a:ext cx="1600200" cy="731520"/>
          </a:xfrm>
          <a:prstGeom prst="rect">
            <a:avLst/>
          </a:prstGeom>
          <a:solidFill>
            <a:srgbClr val="153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138160" y="5623560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96D6"/>
                </a:solidFill>
                <a:latin typeface="Calibri"/>
              </a:defRPr>
            </a:pPr>
            <a:r>
              <a:t>Level 2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138160" y="5943600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BB"/>
                </a:solidFill>
                <a:latin typeface="Calibri"/>
              </a:defRPr>
            </a:pPr>
            <a:r>
              <a:t>Managed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14400" y="6400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D600"/>
                </a:solidFill>
                <a:latin typeface="Calibri"/>
              </a:defRPr>
            </a:pPr>
            <a:r>
              <a:t>→ Semua domain berada di Level 2: proses dasar sudah lengkap, tapi belum terstandarisasi formal.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BBBBB"/>
                </a:solidFill>
                <a:latin typeface="Calibri"/>
              </a:defRPr>
            </a:pPr>
            <a:r>
              <a:t>10/17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D6"/>
                </a:solidFill>
                <a:latin typeface="Calibri"/>
              </a:defRPr>
            </a:pPr>
            <a:r>
              <a:t>05 | HASIL 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772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GAP Analysis — As-is vs To-be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325880"/>
            <a:ext cx="2743200" cy="36576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D6"/>
                </a:solidFill>
                <a:latin typeface="Calibri"/>
              </a:defRPr>
            </a:pPr>
            <a:r>
              <a:t>APO12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0" y="1828800"/>
            <a:ext cx="3291840" cy="32004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79" y="18288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D6"/>
                </a:solidFill>
                <a:latin typeface="Calibri"/>
              </a:defRPr>
            </a:pPr>
            <a:r>
              <a:t>Level 2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0" y="2194560"/>
            <a:ext cx="6583680" cy="320040"/>
          </a:xfrm>
          <a:prstGeom prst="rect">
            <a:avLst/>
          </a:prstGeom>
          <a:solidFill>
            <a:srgbClr val="153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0" y="2194560"/>
            <a:ext cx="6583680" cy="320040"/>
          </a:xfrm>
          <a:prstGeom prst="rect">
            <a:avLst/>
          </a:prstGeom>
          <a:solidFill>
            <a:srgbClr val="00B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19" y="21945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BC8C"/>
                </a:solidFill>
                <a:latin typeface="Calibri"/>
              </a:defRPr>
            </a:pPr>
            <a:r>
              <a:t>Level 4 (Target)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0" y="1920240"/>
            <a:ext cx="1097280" cy="54864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0" y="196596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GAP</a:t>
            </a:r>
            <a:br/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8346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D6"/>
                </a:solidFill>
                <a:latin typeface="Calibri"/>
              </a:defRPr>
            </a:pPr>
            <a:r>
              <a:t>APO13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0" y="2743200"/>
            <a:ext cx="3291840" cy="32004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79" y="27432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D6"/>
                </a:solidFill>
                <a:latin typeface="Calibri"/>
              </a:defRPr>
            </a:pPr>
            <a:r>
              <a:t>Level 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0" y="3108960"/>
            <a:ext cx="6583680" cy="320040"/>
          </a:xfrm>
          <a:prstGeom prst="rect">
            <a:avLst/>
          </a:prstGeom>
          <a:solidFill>
            <a:srgbClr val="153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86000" y="3108960"/>
            <a:ext cx="6583680" cy="320040"/>
          </a:xfrm>
          <a:prstGeom prst="rect">
            <a:avLst/>
          </a:prstGeom>
          <a:solidFill>
            <a:srgbClr val="00B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19" y="31089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BC8C"/>
                </a:solidFill>
                <a:latin typeface="Calibri"/>
              </a:defRPr>
            </a:pPr>
            <a:r>
              <a:t>Level 4 (Target)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058400" y="2834640"/>
            <a:ext cx="1097280" cy="54864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0" y="288036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GAP</a:t>
            </a:r>
            <a:br/>
            <a: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3749039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D6"/>
                </a:solidFill>
                <a:latin typeface="Calibri"/>
              </a:defRPr>
            </a:pPr>
            <a:r>
              <a:t>BAI06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0" y="3657600"/>
            <a:ext cx="3291840" cy="32004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79" y="36576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D6"/>
                </a:solidFill>
                <a:latin typeface="Calibri"/>
              </a:defRPr>
            </a:pPr>
            <a:r>
              <a:t>Level 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0" y="4023360"/>
            <a:ext cx="6583680" cy="320040"/>
          </a:xfrm>
          <a:prstGeom prst="rect">
            <a:avLst/>
          </a:prstGeom>
          <a:solidFill>
            <a:srgbClr val="153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286000" y="4023360"/>
            <a:ext cx="6583680" cy="320040"/>
          </a:xfrm>
          <a:prstGeom prst="rect">
            <a:avLst/>
          </a:prstGeom>
          <a:solidFill>
            <a:srgbClr val="00B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61119" y="40233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BC8C"/>
                </a:solidFill>
                <a:latin typeface="Calibri"/>
              </a:defRPr>
            </a:pPr>
            <a:r>
              <a:t>Level 4 (Target)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00" y="3749039"/>
            <a:ext cx="1097280" cy="54864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0" y="379476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GAP</a:t>
            </a:r>
            <a:br/>
            <a: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6634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D6"/>
                </a:solidFill>
                <a:latin typeface="Calibri"/>
              </a:defRPr>
            </a:pPr>
            <a:r>
              <a:t>DSS01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86000" y="4572000"/>
            <a:ext cx="3291840" cy="32004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69279" y="45720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D6"/>
                </a:solidFill>
                <a:latin typeface="Calibri"/>
              </a:defRPr>
            </a:pPr>
            <a:r>
              <a:t>Level 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86000" y="4937760"/>
            <a:ext cx="6583680" cy="320040"/>
          </a:xfrm>
          <a:prstGeom prst="rect">
            <a:avLst/>
          </a:prstGeom>
          <a:solidFill>
            <a:srgbClr val="153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286000" y="4937760"/>
            <a:ext cx="6583680" cy="320040"/>
          </a:xfrm>
          <a:prstGeom prst="rect">
            <a:avLst/>
          </a:prstGeom>
          <a:solidFill>
            <a:srgbClr val="00B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19" y="49377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BC8C"/>
                </a:solidFill>
                <a:latin typeface="Calibri"/>
              </a:defRPr>
            </a:pPr>
            <a:r>
              <a:t>Level 4 (Target)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058400" y="4663440"/>
            <a:ext cx="1097280" cy="54864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58400" y="470916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GAP</a:t>
            </a:r>
            <a:br/>
            <a:r>
              <a:t>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55778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D6"/>
                </a:solidFill>
                <a:latin typeface="Calibri"/>
              </a:defRPr>
            </a:pPr>
            <a:r>
              <a:t>DSS05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286000" y="5486400"/>
            <a:ext cx="3291840" cy="32004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669279" y="54864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D6"/>
                </a:solidFill>
                <a:latin typeface="Calibri"/>
              </a:defRPr>
            </a:pPr>
            <a:r>
              <a:t>Level 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286000" y="5852160"/>
            <a:ext cx="6583680" cy="320040"/>
          </a:xfrm>
          <a:prstGeom prst="rect">
            <a:avLst/>
          </a:prstGeom>
          <a:solidFill>
            <a:srgbClr val="153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286000" y="5852160"/>
            <a:ext cx="6583680" cy="320040"/>
          </a:xfrm>
          <a:prstGeom prst="rect">
            <a:avLst/>
          </a:prstGeom>
          <a:solidFill>
            <a:srgbClr val="00B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961119" y="58521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BC8C"/>
                </a:solidFill>
                <a:latin typeface="Calibri"/>
              </a:defRPr>
            </a:pPr>
            <a:r>
              <a:t>Level 4 (Target)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058400" y="5577840"/>
            <a:ext cx="1097280" cy="54864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0" y="562356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GAP</a:t>
            </a:r>
            <a:br/>
            <a: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286000" y="6400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96D6"/>
                </a:solidFill>
                <a:latin typeface="Calibri"/>
              </a:defRPr>
            </a:pPr>
            <a:r>
              <a:t>■ As-is (Saat Ini)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0" y="6400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BC8C"/>
                </a:solidFill>
                <a:latin typeface="Calibri"/>
              </a:defRPr>
            </a:pPr>
            <a:r>
              <a:t>■ To-be (Target)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58000" y="6400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53935"/>
                </a:solidFill>
                <a:latin typeface="Calibri"/>
              </a:defRPr>
            </a:pPr>
            <a:r>
              <a:t>■ GAP = 2 Level pada semua domain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BBBBB"/>
                </a:solidFill>
                <a:latin typeface="Calibri"/>
              </a:defRPr>
            </a:pPr>
            <a:r>
              <a:t>11/17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D6"/>
                </a:solidFill>
                <a:latin typeface="Calibri"/>
              </a:defRPr>
            </a:pPr>
            <a:r>
              <a:t>05 | HASIL 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772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Temuan Utama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325880"/>
            <a:ext cx="2743200" cy="36576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737360"/>
            <a:ext cx="73152" cy="77724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5840" y="1737360"/>
            <a:ext cx="10332720" cy="77724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7830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⚠️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1783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53935"/>
                </a:solidFill>
                <a:latin typeface="Calibri"/>
              </a:defRPr>
            </a:pPr>
            <a:r>
              <a:t>Dokumentasi Risiko Belum Lengkap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1031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t>Identifikasi risiko TI sudah dilakukan namun belum dikelola dalam risk register yang terstruktur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2697480"/>
            <a:ext cx="73152" cy="7772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0" y="2697480"/>
            <a:ext cx="10332720" cy="77724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27432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27432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  <a:latin typeface="Calibri"/>
              </a:defRPr>
            </a:pPr>
            <a:r>
              <a:t>Sosialisasi Keamanan Terbatas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3063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t>Kebijakan keamanan informasi sudah ada namun program pelatihan keamanan belum berjalan rutin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3657600"/>
            <a:ext cx="73152" cy="77724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05840" y="3657600"/>
            <a:ext cx="10332720" cy="77724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37033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37033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600"/>
                </a:solidFill>
                <a:latin typeface="Calibri"/>
              </a:defRPr>
            </a:pPr>
            <a:r>
              <a:t>Change Management Belum Formal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4023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t>Pencatatan perubahan TI dilakukan, namun prosedur change management belum terdokumentasi formal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4617720"/>
            <a:ext cx="73152" cy="77724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05840" y="4617720"/>
            <a:ext cx="10332720" cy="77724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88720" y="46634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⚙️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6634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D6"/>
                </a:solidFill>
                <a:latin typeface="Calibri"/>
              </a:defRPr>
            </a:pPr>
            <a:r>
              <a:t>SOP Belum Konsisten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37360" y="4983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t>Pemantauan operasional sudah berjalan rutin, namun SOP belum diterapkan konsisten di semua divisi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" y="5577840"/>
            <a:ext cx="73152" cy="777240"/>
          </a:xfrm>
          <a:prstGeom prst="rect">
            <a:avLst/>
          </a:prstGeom>
          <a:solidFill>
            <a:srgbClr val="00B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05840" y="5577840"/>
            <a:ext cx="10332720" cy="77724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88720" y="562355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🛡️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37360" y="5623559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C8C"/>
                </a:solidFill>
                <a:latin typeface="Calibri"/>
              </a:defRPr>
            </a:pPr>
            <a:r>
              <a:t>Audit Internal Belum Berkala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37360" y="59436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t>Implementasi teknis keamanan sudah baik, namun audit keamanan internal belum dilaksanakan berkala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BBBBB"/>
                </a:solidFill>
                <a:latin typeface="Calibri"/>
              </a:defRPr>
            </a:pPr>
            <a:r>
              <a:t>12/17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D6"/>
                </a:solidFill>
                <a:latin typeface="Calibri"/>
              </a:defRPr>
            </a:pPr>
            <a:r>
              <a:t>06 | REKOMENDASI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772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Menuju Level 3 (Established Process)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325880"/>
            <a:ext cx="2743200" cy="36576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Calibri"/>
              </a:defRPr>
            </a:pPr>
            <a:r>
              <a:t>Prioritas pertama: menyusun dokumentasi formal dan menstandarisasi prosedur tata kelola TI.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286000"/>
            <a:ext cx="10515600" cy="73152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2286000"/>
            <a:ext cx="73152" cy="731520"/>
          </a:xfrm>
          <a:prstGeom prst="rect">
            <a:avLst/>
          </a:prstGeom>
          <a:solidFill>
            <a:srgbClr val="00B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3317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3317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C8C"/>
                </a:solidFill>
                <a:latin typeface="Calibri"/>
              </a:defRPr>
            </a:pPr>
            <a:r>
              <a:t>Dokumentasi Formal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651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t>Menyusun kebijakan, prosedur, dan SOP tata kelola TI secara formal dan disahkan manajemen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3154680"/>
            <a:ext cx="10515600" cy="73152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" y="3154680"/>
            <a:ext cx="73152" cy="731520"/>
          </a:xfrm>
          <a:prstGeom prst="rect">
            <a:avLst/>
          </a:prstGeom>
          <a:solidFill>
            <a:srgbClr val="00B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32004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32004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C8C"/>
                </a:solidFill>
                <a:latin typeface="Calibri"/>
              </a:defRPr>
            </a:pPr>
            <a:r>
              <a:t>Risk Register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35204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t>Membuat risk register komprehensif mencakup risiko TI, dampak, probabilitas, dan mitigasi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4023360"/>
            <a:ext cx="10515600" cy="73152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4400" y="4023360"/>
            <a:ext cx="73152" cy="731520"/>
          </a:xfrm>
          <a:prstGeom prst="rect">
            <a:avLst/>
          </a:prstGeom>
          <a:solidFill>
            <a:srgbClr val="00B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20" y="40690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4069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C8C"/>
                </a:solidFill>
                <a:latin typeface="Calibri"/>
              </a:defRPr>
            </a:pPr>
            <a:r>
              <a:t>Program Pelatihan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43891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t>Menyelenggarakan pelatihan keamanan informasi rutin untuk seluruh karyawan (min. 2x/tahun)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4892040"/>
            <a:ext cx="10515600" cy="73152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4400" y="4892040"/>
            <a:ext cx="73152" cy="731520"/>
          </a:xfrm>
          <a:prstGeom prst="rect">
            <a:avLst/>
          </a:prstGeom>
          <a:solidFill>
            <a:srgbClr val="00B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88720" y="4937759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37360" y="4937759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C8C"/>
                </a:solidFill>
                <a:latin typeface="Calibri"/>
              </a:defRPr>
            </a:pPr>
            <a:r>
              <a:t>SOP Change Management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7360" y="5257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t>Menyusun SOP manajemen perubahan TI formal mencakup alur persetujuan dan evaluasi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400" y="5760720"/>
            <a:ext cx="10515600" cy="73152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14400" y="5760720"/>
            <a:ext cx="73152" cy="731520"/>
          </a:xfrm>
          <a:prstGeom prst="rect">
            <a:avLst/>
          </a:prstGeom>
          <a:solidFill>
            <a:srgbClr val="00B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88720" y="58064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37360" y="58064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C8C"/>
                </a:solidFill>
                <a:latin typeface="Calibri"/>
              </a:defRPr>
            </a:pPr>
            <a:r>
              <a:t>Standarisasi Prosedur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37360" y="6126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t>Menerapkan standar keamanan dan operasional yang konsisten di seluruh platform digital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BBBBB"/>
                </a:solidFill>
                <a:latin typeface="Calibri"/>
              </a:defRPr>
            </a:pPr>
            <a:r>
              <a:t>13/17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D6"/>
                </a:solidFill>
                <a:latin typeface="Calibri"/>
              </a:defRPr>
            </a:pPr>
            <a:r>
              <a:t>06 | REKOMENDASI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772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Menuju Level 4 (Predictable Process)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325880"/>
            <a:ext cx="2743200" cy="36576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Calibri"/>
              </a:defRPr>
            </a:pPr>
            <a:r>
              <a:t>Setelah mencapai Level 3, targetkan pengukuran kinerja secara kuantitatif dan otomatisasi.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286000"/>
            <a:ext cx="10515600" cy="73152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2286000"/>
            <a:ext cx="73152" cy="73152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3317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3317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D6"/>
                </a:solidFill>
                <a:latin typeface="Calibri"/>
              </a:defRPr>
            </a:pPr>
            <a:r>
              <a:t>KPI Terukur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651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t>Menetapkan Key Performance Indicators kuantitatif: uptime, MTTR, MTBF, jumlah insiden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3154680"/>
            <a:ext cx="10515600" cy="73152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" y="3154680"/>
            <a:ext cx="73152" cy="73152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32004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🖥️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32004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D6"/>
                </a:solidFill>
                <a:latin typeface="Calibri"/>
              </a:defRPr>
            </a:pPr>
            <a:r>
              <a:t>Monitoring Real-time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35204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t>Menerapkan dashboard monitoring otomatis untuk memantau kinerja platform digital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4023360"/>
            <a:ext cx="10515600" cy="73152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4400" y="4023360"/>
            <a:ext cx="73152" cy="73152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20" y="40690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4069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D6"/>
                </a:solidFill>
                <a:latin typeface="Calibri"/>
              </a:defRPr>
            </a:pPr>
            <a:r>
              <a:t>Audit Internal Berkala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43891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t>Menjadwalkan audit internal tata kelola TI secara periodik (minimal 2x per tahun)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4892040"/>
            <a:ext cx="10515600" cy="73152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4400" y="4892040"/>
            <a:ext cx="73152" cy="73152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88720" y="4937759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🧪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37360" y="4937759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D6"/>
                </a:solidFill>
                <a:latin typeface="Calibri"/>
              </a:defRPr>
            </a:pPr>
            <a:r>
              <a:t>Penetration Testing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7360" y="5257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t>Melakukan penetration testing dan vulnerability assessment secara berkala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400" y="5760720"/>
            <a:ext cx="10515600" cy="73152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14400" y="5760720"/>
            <a:ext cx="73152" cy="73152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88720" y="58064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37360" y="58064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D6"/>
                </a:solidFill>
                <a:latin typeface="Calibri"/>
              </a:defRPr>
            </a:pPr>
            <a:r>
              <a:t>SLA Internal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37360" y="6126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t>Menetapkan Service Level Agreement internal untuk setiap layanan TI yang disediakan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BBBBB"/>
                </a:solidFill>
                <a:latin typeface="Calibri"/>
              </a:defRPr>
            </a:pPr>
            <a:r>
              <a:t>14/17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D6"/>
                </a:solidFill>
                <a:latin typeface="Calibri"/>
              </a:defRPr>
            </a:pPr>
            <a:r>
              <a:t>06 | REKOMENDASI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772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Roadmap Implementasi Bertahap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325880"/>
            <a:ext cx="2743200" cy="36576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737360"/>
            <a:ext cx="5029200" cy="640080"/>
          </a:xfrm>
          <a:prstGeom prst="rect">
            <a:avLst/>
          </a:prstGeom>
          <a:solidFill>
            <a:srgbClr val="00B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783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1B2A"/>
                </a:solidFill>
                <a:latin typeface="Calibri"/>
              </a:defRPr>
            </a:pPr>
            <a:r>
              <a:t>FASE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0574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D1B2A"/>
                </a:solidFill>
                <a:latin typeface="Calibri"/>
              </a:defRPr>
            </a:pPr>
            <a:r>
              <a:t>0-6 Bulan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828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0D1B2A"/>
                </a:solidFill>
                <a:latin typeface="Calibri"/>
              </a:defRPr>
            </a:pPr>
            <a:r>
              <a:t>Menuju Level 3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2468880"/>
            <a:ext cx="5029200" cy="320040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97280" y="2651760"/>
            <a:ext cx="320040" cy="320040"/>
          </a:xfrm>
          <a:prstGeom prst="rect">
            <a:avLst/>
          </a:prstGeom>
          <a:solidFill>
            <a:srgbClr val="00B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670048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D1B2A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67004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Dokumentasi kebijakan &amp; SOP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3337560"/>
            <a:ext cx="320040" cy="320040"/>
          </a:xfrm>
          <a:prstGeom prst="rect">
            <a:avLst/>
          </a:prstGeom>
          <a:solidFill>
            <a:srgbClr val="00B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355848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D1B2A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35584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Pembentukan tim tata kelola TI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97280" y="4023360"/>
            <a:ext cx="320040" cy="320040"/>
          </a:xfrm>
          <a:prstGeom prst="rect">
            <a:avLst/>
          </a:prstGeom>
          <a:solidFill>
            <a:srgbClr val="00B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041648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D1B2A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04164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Program pelatihan keamanan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97280" y="4709160"/>
            <a:ext cx="320040" cy="320040"/>
          </a:xfrm>
          <a:prstGeom prst="rect">
            <a:avLst/>
          </a:prstGeom>
          <a:solidFill>
            <a:srgbClr val="00B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4727448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D1B2A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72744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Standarisasi prosedur lintas divisi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1737360"/>
            <a:ext cx="5029200" cy="64008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1783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1B2A"/>
                </a:solidFill>
                <a:latin typeface="Calibri"/>
              </a:defRPr>
            </a:pPr>
            <a:r>
              <a:t>FASE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20574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D1B2A"/>
                </a:solidFill>
                <a:latin typeface="Calibri"/>
              </a:defRPr>
            </a:pPr>
            <a:r>
              <a:t>6-12 Bulan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1828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0D1B2A"/>
                </a:solidFill>
                <a:latin typeface="Calibri"/>
              </a:defRPr>
            </a:pPr>
            <a:r>
              <a:t>Menuju Level 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2468880"/>
            <a:ext cx="5029200" cy="320040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0" y="2651760"/>
            <a:ext cx="320040" cy="32004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0" y="2670048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D1B2A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267004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Implementasi KPI terukur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0" y="3337560"/>
            <a:ext cx="320040" cy="32004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0" y="3355848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D1B2A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0880" y="335584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Dashboard monitoring real-time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0" y="4023360"/>
            <a:ext cx="320040" cy="32004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0" y="4041648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D1B2A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40880" y="404164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Audit internal berkala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0" y="4709160"/>
            <a:ext cx="320040" cy="32004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0" y="4727448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D1B2A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40880" y="472744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Penetration testing terjadwal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0" y="347472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96D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0" y="5943600"/>
            <a:ext cx="6400800" cy="548640"/>
          </a:xfrm>
          <a:prstGeom prst="rect">
            <a:avLst/>
          </a:prstGeom>
          <a:solidFill>
            <a:srgbClr val="153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743200" y="59893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D600"/>
                </a:solidFill>
                <a:latin typeface="Calibri"/>
              </a:defRPr>
            </a:pPr>
            <a:r>
              <a:t>🎯  TARGET: Capability Level 4 (Predictable Process) dalam 12 bulan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BBBBB"/>
                </a:solidFill>
                <a:latin typeface="Calibri"/>
              </a:defRPr>
            </a:pPr>
            <a:r>
              <a:t>15/17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D6"/>
                </a:solidFill>
                <a:latin typeface="Calibri"/>
              </a:defRPr>
            </a:pPr>
            <a:r>
              <a:t>07 | KESIMPULAN &amp; SARAN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772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Ringkasan Hasil Audit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325880"/>
            <a:ext cx="2743200" cy="36576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BC8C"/>
                </a:solidFill>
                <a:latin typeface="Calibri"/>
              </a:defRPr>
            </a:pPr>
            <a:r>
              <a:t>KESIMPULAN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011680"/>
            <a:ext cx="1828800" cy="36576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>
                <a:solidFill>
                  <a:srgbClr val="BBBBBB"/>
                </a:solidFill>
                <a:latin typeface="Calibri"/>
              </a:defRPr>
            </a:pPr>
            <a:r>
              <a:t>•  Seluruh 5 domain berada di Capability Level 2</a:t>
            </a:r>
            <a:br/>
            <a:r>
              <a:t>(Managed Process)</a:t>
            </a:r>
          </a:p>
          <a:p>
            <a:pPr>
              <a:spcAft>
                <a:spcPts val="1200"/>
              </a:spcAft>
              <a:defRPr sz="1200">
                <a:solidFill>
                  <a:srgbClr val="BBBBBB"/>
                </a:solidFill>
                <a:latin typeface="Calibri"/>
              </a:defRPr>
            </a:pPr>
            <a:r>
              <a:t>•  GAP = 2 level menuju target Level 4</a:t>
            </a:r>
            <a:br/>
            <a:r>
              <a:t>(Predictable Process)</a:t>
            </a:r>
          </a:p>
          <a:p>
            <a:pPr>
              <a:spcAft>
                <a:spcPts val="1200"/>
              </a:spcAft>
              <a:defRPr sz="1200">
                <a:solidFill>
                  <a:srgbClr val="BBBBBB"/>
                </a:solidFill>
                <a:latin typeface="Calibri"/>
              </a:defRPr>
            </a:pPr>
            <a:r>
              <a:t>•  DSS01 &amp; DSS05 memiliki fondasi terbaik</a:t>
            </a:r>
            <a:br/>
            <a:r>
              <a:t>(Level 1 tertinggi: ~67%)</a:t>
            </a:r>
          </a:p>
          <a:p>
            <a:pPr>
              <a:spcAft>
                <a:spcPts val="1200"/>
              </a:spcAft>
              <a:defRPr sz="1200">
                <a:solidFill>
                  <a:srgbClr val="BBBBBB"/>
                </a:solidFill>
                <a:latin typeface="Calibri"/>
              </a:defRPr>
            </a:pPr>
            <a:r>
              <a:t>•  APO12 memerlukan perhatian paling besar</a:t>
            </a:r>
            <a:br/>
            <a:r>
              <a:t>(Level 3 hanya 45.00%)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645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6D6"/>
                </a:solidFill>
                <a:latin typeface="Calibri"/>
              </a:defRPr>
            </a:pPr>
            <a:r>
              <a:t>SARAN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2011680"/>
            <a:ext cx="1828800" cy="36576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2860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>
                <a:solidFill>
                  <a:srgbClr val="BBBBBB"/>
                </a:solidFill>
                <a:latin typeface="Calibri"/>
              </a:defRPr>
            </a:pPr>
            <a:r>
              <a:t>•  Prioritas: dokumentasi formal semua</a:t>
            </a:r>
            <a:br/>
            <a:r>
              <a:t>kebijakan dan SOP tata kelola TI</a:t>
            </a:r>
          </a:p>
          <a:p>
            <a:pPr>
              <a:spcAft>
                <a:spcPts val="1200"/>
              </a:spcAft>
              <a:defRPr sz="1200">
                <a:solidFill>
                  <a:srgbClr val="BBBBBB"/>
                </a:solidFill>
                <a:latin typeface="Calibri"/>
              </a:defRPr>
            </a:pPr>
            <a:r>
              <a:t>•  Terapkan KPI terukur untuk setiap</a:t>
            </a:r>
            <a:br/>
            <a:r>
              <a:t>domain tata kelola TI</a:t>
            </a:r>
          </a:p>
          <a:p>
            <a:pPr>
              <a:spcAft>
                <a:spcPts val="1200"/>
              </a:spcAft>
              <a:defRPr sz="1200">
                <a:solidFill>
                  <a:srgbClr val="BBBBBB"/>
                </a:solidFill>
                <a:latin typeface="Calibri"/>
              </a:defRPr>
            </a:pPr>
            <a:r>
              <a:t>•  Bentuk tim khusus tata kelola TI</a:t>
            </a:r>
            <a:br/>
            <a:r>
              <a:t>dan jalankan audit internal berkala</a:t>
            </a:r>
          </a:p>
          <a:p>
            <a:pPr>
              <a:spcAft>
                <a:spcPts val="1200"/>
              </a:spcAft>
              <a:defRPr sz="1200">
                <a:solidFill>
                  <a:srgbClr val="BBBBBB"/>
                </a:solidFill>
                <a:latin typeface="Calibri"/>
              </a:defRPr>
            </a:pPr>
            <a:r>
              <a:t>•  Implementasi bertahap:</a:t>
            </a:r>
            <a:br/>
            <a:r>
              <a:t>Fase 1 (6 bln) → Level 3</a:t>
            </a:r>
            <a:br/>
            <a:r>
              <a:t>Fase 2 (12 bln) → Level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BBBBB"/>
                </a:solidFill>
                <a:latin typeface="Calibri"/>
              </a:defRPr>
            </a:pPr>
            <a:r>
              <a:t>16/17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Calibri"/>
              </a:defRPr>
            </a:pPr>
            <a:r>
              <a:t>Terima Kasih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3017520"/>
            <a:ext cx="2286000" cy="36576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0096D6"/>
                </a:solidFill>
                <a:latin typeface="Calibri"/>
              </a:defRPr>
            </a:pPr>
            <a:r>
              <a:t>Sesi Tanya Jawab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4114800"/>
            <a:ext cx="5943600" cy="182880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0" y="420624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96D6"/>
                </a:solidFill>
                <a:latin typeface="Calibri"/>
              </a:defRPr>
            </a:pPr>
            <a:r>
              <a:t>TIM PENULIS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457200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Roki Anjas (11250066)  |  Susanto (1250068)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502920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BB"/>
                </a:solidFill>
                <a:latin typeface="Calibri"/>
              </a:defRPr>
            </a:pPr>
            <a:r>
              <a:t>Audit Sistem Informasi (453)</a:t>
            </a:r>
            <a:br/>
            <a:r>
              <a:t>Juarni Siregar, S.Pd., M.Kom</a:t>
            </a:r>
            <a:br/>
            <a:r>
              <a:t>Universitas Nusa Mandiri |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BBBBB"/>
                </a:solidFill>
                <a:latin typeface="Calibri"/>
              </a:defRPr>
            </a:pPr>
            <a:r>
              <a:t>17/17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